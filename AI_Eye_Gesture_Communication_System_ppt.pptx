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9" r:id="rId7"/>
    <p:sldId id="261" r:id="rId8"/>
    <p:sldId id="265" r:id="rId9"/>
    <p:sldId id="262" r:id="rId10"/>
    <p:sldId id="263" r:id="rId11"/>
    <p:sldId id="264" r:id="rId12"/>
    <p:sldId id="268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31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22B97-C50D-BFC7-51A5-0483603F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999C4-75DD-7BD4-8290-E29D5EB5D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5BE72-E185-485A-A853-4B3BFDA01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EB2A1-AF45-401E-53AD-6678058B0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69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2AC3-494D-5BD4-AD0D-AE3F1069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BFA50-C288-0613-1E92-B6A980A4D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F709E-76E5-6B8A-2DDF-A5F5589C0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6FF1F-E887-7A31-BB03-A2E71DAC7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04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jpeg" /><Relationship Id="rId4" Type="http://schemas.openxmlformats.org/officeDocument/2006/relationships/image" Target="../media/image4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jpeg" /><Relationship Id="rId4" Type="http://schemas.openxmlformats.org/officeDocument/2006/relationships/image" Target="../media/image4.jpe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3" Type="http://schemas.openxmlformats.org/officeDocument/2006/relationships/image" Target="../media/image1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10" Type="http://schemas.openxmlformats.org/officeDocument/2006/relationships/image" Target="../media/image5.jpeg" /><Relationship Id="rId4" Type="http://schemas.openxmlformats.org/officeDocument/2006/relationships/image" Target="../media/image8.png" /><Relationship Id="rId9" Type="http://schemas.openxmlformats.org/officeDocument/2006/relationships/image" Target="../media/image4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4" Type="http://schemas.openxmlformats.org/officeDocument/2006/relationships/image" Target="../media/image1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4" Type="http://schemas.openxmlformats.org/officeDocument/2006/relationships/image" Target="../media/image10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 /><Relationship Id="rId3" Type="http://schemas.openxmlformats.org/officeDocument/2006/relationships/image" Target="../media/image1.png" /><Relationship Id="rId7" Type="http://schemas.openxmlformats.org/officeDocument/2006/relationships/image" Target="../media/image4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 /><Relationship Id="rId3" Type="http://schemas.openxmlformats.org/officeDocument/2006/relationships/image" Target="../media/image1.png" /><Relationship Id="rId7" Type="http://schemas.openxmlformats.org/officeDocument/2006/relationships/image" Target="../media/image18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.png" /><Relationship Id="rId5" Type="http://schemas.openxmlformats.org/officeDocument/2006/relationships/image" Target="../media/image17.png" /><Relationship Id="rId4" Type="http://schemas.openxmlformats.org/officeDocument/2006/relationships/image" Target="../media/image16.png" /><Relationship Id="rId9" Type="http://schemas.openxmlformats.org/officeDocument/2006/relationships/image" Target="../media/image5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53848" y="4131812"/>
            <a:ext cx="3840480" cy="3840480"/>
          </a:xfrm>
          <a:prstGeom prst="ellipse">
            <a:avLst/>
          </a:prstGeom>
          <a:solidFill>
            <a:srgbClr val="12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30952" y="822960"/>
            <a:ext cx="1508760" cy="150876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_work/icons/eye_F4A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230" y="121523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CSA1702-ARTIFICIAL INTELLIGENCE</a:t>
            </a:r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Eye Gesture Controlled Smart Communication</a:t>
            </a:r>
            <a:endParaRPr lang="en-US" sz="32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for Physically Challenged People</a:t>
            </a:r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C9D6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166360" y="5166360"/>
            <a:ext cx="1828800" cy="0"/>
          </a:xfrm>
          <a:prstGeom prst="line">
            <a:avLst/>
          </a:prstGeom>
          <a:noFill/>
          <a:ln w="12700">
            <a:solidFill>
              <a:srgbClr val="2E55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38224" y="4401881"/>
            <a:ext cx="4136064" cy="2307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 </a:t>
            </a:r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 </a:t>
            </a:r>
            <a:r>
              <a:rPr lang="en-US" sz="240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Shree.S</a:t>
            </a:r>
            <a:r>
              <a:rPr lang="en-US" sz="2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(192511149)</a:t>
            </a:r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Janikaa </a:t>
            </a:r>
            <a:r>
              <a:rPr lang="en-US" sz="2400" err="1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Sri.R</a:t>
            </a:r>
            <a:r>
              <a:rPr lang="en-US" sz="240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(192511092)</a:t>
            </a:r>
          </a:p>
          <a:p>
            <a:pPr marL="0" indent="0">
              <a:buNone/>
            </a:pPr>
            <a:r>
              <a:rPr lang="en-US" sz="2400" err="1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Abinaya.U</a:t>
            </a:r>
            <a:r>
              <a:rPr lang="en-US" sz="240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(192573023)</a:t>
            </a: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9728BF-C9F3-FEC7-BE7B-53E7F0334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50" y="237545"/>
            <a:ext cx="10564699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"/>
            <a:ext cx="10680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348080" y="1541390"/>
            <a:ext cx="7009649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Physically challenged individuals with conditions such as paralysis, ALS, or quadriplegia often lose the ability to speak or use their hands to communicate.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assistive devices rely on touch, switches, or specialized hardware that many patients cannot operate.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Eye movements remain functional in most such cases, making them a reliable and non-invasive input channel.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and computer vision now allow real-time tracking of eye gestures using an ordinary webcam.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builds an affordable, camera-based system that translates eye gestures into text, speech, and alerts.</a:t>
            </a:r>
            <a:endParaRPr lang="en-US" sz="2200"/>
          </a:p>
        </p:txBody>
      </p:sp>
      <p:sp>
        <p:nvSpPr>
          <p:cNvPr id="10" name="Text 6"/>
          <p:cNvSpPr/>
          <p:nvPr/>
        </p:nvSpPr>
        <p:spPr>
          <a:xfrm>
            <a:off x="758952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8186319" y="2980306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endParaRPr lang="en-US" sz="135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619C86-CC22-5FDE-8E2A-E83A4CD56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688" y="2342679"/>
            <a:ext cx="4645786" cy="25384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EF9F99-60F1-51F3-3427-936ACECEB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9B39A6-6363-9187-D983-B43355C05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real-time, low-cost, camera-based assistive communication system that converts eye gestures into text, speech, and caregiver alerts using AI-driven computer vision.</a:t>
            </a:r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spcAft>
                <a:spcPts val="1200"/>
              </a:spcAft>
              <a:buSzPct val="100000"/>
            </a:pPr>
            <a:r>
              <a:rPr lang="en-US" sz="2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captures live facial video through a standard webcam and detects the user's eyes using AI-based facial landmark detection. Eye Aspect Ratio (EAR) and gaze-direction features are extracted frame-by-frame to identify blinks, gaze shifts, and deliberate eye gestures. A trained classification model maps recognized gesture patterns to predefined communication commands (letters, words, or actions). Recognized commands are converted into on-screen text and natural speech output, and can trigger a caregiver alert when needed. The result is a hands-free, low-cost communication channel for users who cannot speak or use their hands.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E2FEF-A78F-801A-14B0-23FBFBBFC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1B58E7-DF34-0812-6D30-CD6D6E664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400"/>
          </a:p>
        </p:txBody>
      </p:sp>
      <p:sp>
        <p:nvSpPr>
          <p:cNvPr id="26" name="Text 23"/>
          <p:cNvSpPr/>
          <p:nvPr/>
        </p:nvSpPr>
        <p:spPr>
          <a:xfrm>
            <a:off x="548640" y="5212080"/>
            <a:ext cx="11064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2AA581-5AF8-0645-EF99-2C7CEDCFC30B}"/>
              </a:ext>
            </a:extLst>
          </p:cNvPr>
          <p:cNvSpPr txBox="1"/>
          <p:nvPr/>
        </p:nvSpPr>
        <p:spPr>
          <a:xfrm>
            <a:off x="389152" y="2015933"/>
            <a:ext cx="6438367" cy="557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eyes and extract facial landmarks in real time from webcam video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blinks and gaze patterns into distinct, intentional eye gestures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Translate recognized gestures into letters, words, or predefined commands.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selected commands into on-screen text and natural speech output.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Notify caregivers instantly for urgent needs through a lightweight alert system.</a:t>
            </a:r>
            <a:endParaRPr lang="en-US" sz="2200"/>
          </a:p>
          <a:p>
            <a:endParaRPr lang="en-US"/>
          </a:p>
          <a:p>
            <a:r>
              <a:rPr lang="en-US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endParaRPr lang="en-US"/>
          </a:p>
          <a:p>
            <a:endParaRPr lang="en-US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050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/>
          </a:p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43E8E7D-EAF2-4420-1948-5D6813CE1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607" y="2264735"/>
            <a:ext cx="5106700" cy="25284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D8FE7E0-5EE6-041A-756D-44273BCDA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3D68734-5824-7280-6DDC-A2D5A824A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518159" y="1833372"/>
            <a:ext cx="5379721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77240" y="1933956"/>
            <a:ext cx="594360" cy="594360"/>
          </a:xfrm>
          <a:prstGeom prst="ellipse">
            <a:avLst/>
          </a:prstGeom>
          <a:solidFill>
            <a:srgbClr val="FBE8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work/icons/alert_F4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" y="2100377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391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 Barrier</a:t>
            </a:r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594360" y="26060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Physically challenged individuals with speech and motor impairments have no reliable way to express needs or communicate with caregivers.</a:t>
            </a:r>
            <a:endParaRPr lang="en-US" sz="2000"/>
          </a:p>
        </p:txBody>
      </p:sp>
      <p:sp>
        <p:nvSpPr>
          <p:cNvPr id="15" name="Text 10"/>
          <p:cNvSpPr/>
          <p:nvPr/>
        </p:nvSpPr>
        <p:spPr>
          <a:xfrm>
            <a:off x="5394960" y="308377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74753" y="4114800"/>
            <a:ext cx="594360" cy="594360"/>
          </a:xfrm>
          <a:prstGeom prst="ellipse">
            <a:avLst/>
          </a:prstGeom>
          <a:solidFill>
            <a:srgbClr val="FBE8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pptx_work/icons/alert_F4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" y="4231949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279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Accessibility</a:t>
            </a:r>
            <a:endParaRPr lang="en-US" sz="2000"/>
          </a:p>
        </p:txBody>
      </p:sp>
      <p:sp>
        <p:nvSpPr>
          <p:cNvPr id="20" name="Text 14"/>
          <p:cNvSpPr/>
          <p:nvPr/>
        </p:nvSpPr>
        <p:spPr>
          <a:xfrm>
            <a:off x="643128" y="4800600"/>
            <a:ext cx="525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Keyboard, touch, and switch-based assistive tools cannot be operated by patients with little to no limb or muscle control.</a:t>
            </a:r>
            <a:endParaRPr lang="en-US" sz="2000"/>
          </a:p>
        </p:txBody>
      </p:sp>
      <p:sp>
        <p:nvSpPr>
          <p:cNvPr id="21" name="Shape 15"/>
          <p:cNvSpPr/>
          <p:nvPr/>
        </p:nvSpPr>
        <p:spPr>
          <a:xfrm>
            <a:off x="627888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499860" y="4174694"/>
            <a:ext cx="594360" cy="594360"/>
          </a:xfrm>
          <a:prstGeom prst="ellipse">
            <a:avLst/>
          </a:prstGeom>
          <a:solidFill>
            <a:srgbClr val="FBE8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pptx_work/icons/alert_F4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393" y="4329227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279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Real-Time Response</a:t>
            </a:r>
            <a:endParaRPr lang="en-US" sz="2000"/>
          </a:p>
        </p:txBody>
      </p:sp>
      <p:sp>
        <p:nvSpPr>
          <p:cNvPr id="25" name="Text 18"/>
          <p:cNvSpPr/>
          <p:nvPr/>
        </p:nvSpPr>
        <p:spPr>
          <a:xfrm>
            <a:off x="6248399" y="4800600"/>
            <a:ext cx="530047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Caregivers are not immediately alerted to a patient's needs, delaying assistance in critical situations</a:t>
            </a:r>
            <a:r>
              <a:rPr lang="en-US" sz="125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50"/>
          </a:p>
        </p:txBody>
      </p:sp>
      <p:sp>
        <p:nvSpPr>
          <p:cNvPr id="26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0C61964-6055-5D15-4B9E-2262A6EE8B1A}"/>
              </a:ext>
            </a:extLst>
          </p:cNvPr>
          <p:cNvSpPr/>
          <p:nvPr/>
        </p:nvSpPr>
        <p:spPr>
          <a:xfrm>
            <a:off x="6248399" y="1843653"/>
            <a:ext cx="5379721" cy="19933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D6C9"/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en-US" sz="2000">
              <a:solidFill>
                <a:srgbClr val="1B243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>
              <a:lnSpc>
                <a:spcPct val="115000"/>
              </a:lnSpc>
            </a:pPr>
            <a:endParaRPr lang="en-US" sz="2000">
              <a:solidFill>
                <a:srgbClr val="1B243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algn="just">
              <a:lnSpc>
                <a:spcPct val="115000"/>
              </a:lnSpc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Commercial eye-tracking communication devices are expensive, require specialized hardware, and are inaccessible to most patients.</a:t>
            </a:r>
            <a:endParaRPr lang="en-US" sz="2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41F473-2EE6-972D-F7B4-9061AE096852}"/>
              </a:ext>
            </a:extLst>
          </p:cNvPr>
          <p:cNvSpPr txBox="1"/>
          <p:nvPr/>
        </p:nvSpPr>
        <p:spPr>
          <a:xfrm>
            <a:off x="7202098" y="2039112"/>
            <a:ext cx="41181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Costly Existing Solutions</a:t>
            </a:r>
            <a:endParaRPr lang="en-US" sz="2000"/>
          </a:p>
          <a:p>
            <a:endParaRPr lang="en-IN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46FA3193-1882-62A9-5D18-D077F9540C6C}"/>
              </a:ext>
            </a:extLst>
          </p:cNvPr>
          <p:cNvSpPr/>
          <p:nvPr/>
        </p:nvSpPr>
        <p:spPr>
          <a:xfrm>
            <a:off x="6432479" y="1992029"/>
            <a:ext cx="594360" cy="594360"/>
          </a:xfrm>
          <a:prstGeom prst="ellipse">
            <a:avLst/>
          </a:prstGeom>
          <a:solidFill>
            <a:srgbClr val="FBE8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1" descr="/home/claude/pptx_work/icons/alert_F4A261.png">
            <a:extLst>
              <a:ext uri="{FF2B5EF4-FFF2-40B4-BE49-F238E27FC236}">
                <a16:creationId xmlns:a16="http://schemas.microsoft.com/office/drawing/2014/main" id="{401531F3-8966-3AB9-83F3-DCA5F6750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724" y="2122788"/>
            <a:ext cx="285293" cy="2852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CDA601B-8E7E-08F4-0337-D726097B2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4558670-8CFF-D573-94DD-165F52953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98BDC-2922-273B-ECBF-64EE1494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CF8778-C2AC-4ED5-AE29-9BFB5F77D47E}"/>
              </a:ext>
            </a:extLst>
          </p:cNvPr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>
            <a:extLst>
              <a:ext uri="{FF2B5EF4-FFF2-40B4-BE49-F238E27FC236}">
                <a16:creationId xmlns:a16="http://schemas.microsoft.com/office/drawing/2014/main" id="{1777C263-4BF2-3645-4CA1-C39A446C0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28A9CD0-F5C4-5AFC-0243-A99D736DE4D5}"/>
              </a:ext>
            </a:extLst>
          </p:cNvPr>
          <p:cNvSpPr/>
          <p:nvPr/>
        </p:nvSpPr>
        <p:spPr>
          <a:xfrm>
            <a:off x="548640" y="685800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B1050FA-BB15-900A-71F9-9320405CFD9A}"/>
              </a:ext>
            </a:extLst>
          </p:cNvPr>
          <p:cNvSpPr/>
          <p:nvPr/>
        </p:nvSpPr>
        <p:spPr>
          <a:xfrm>
            <a:off x="548640" y="5212080"/>
            <a:ext cx="11064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9D93297-7DFC-506E-D44C-B28439A91E31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7BA65B-2E4B-FC98-024B-806BBBD7C360}"/>
              </a:ext>
            </a:extLst>
          </p:cNvPr>
          <p:cNvSpPr txBox="1"/>
          <p:nvPr/>
        </p:nvSpPr>
        <p:spPr>
          <a:xfrm>
            <a:off x="736039" y="1622529"/>
            <a:ext cx="10719922" cy="6624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FaceMesh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BlazeFace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landmark regression CNN)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–real-time facial and eye landmark detection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Eye Aspect Ratio (EAR) algorithm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core blink and eye-closure detection technique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gesture pattern classification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 / RNN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recognizing temporal gesture sequences (e.g., single vs. double blink)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lightweight classical alternative for gesture classification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 engine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converting recognized commands into speech output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endParaRPr lang="en-US"/>
          </a:p>
          <a:p>
            <a:endParaRPr lang="en-US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050">
                <a:solidFill>
                  <a:srgbClr val="DCE6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/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1FAFB-986C-A00B-6CEA-F7226E118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B5AB9A-9E75-08D8-A11F-AA8D86225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1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7360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2298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work/icons/camera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024" y="2602748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812" y="312724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600"/>
          </a:p>
        </p:txBody>
      </p:sp>
      <p:sp>
        <p:nvSpPr>
          <p:cNvPr id="10" name="Text 6"/>
          <p:cNvSpPr/>
          <p:nvPr/>
        </p:nvSpPr>
        <p:spPr>
          <a:xfrm>
            <a:off x="2308860" y="273862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/>
          </a:p>
        </p:txBody>
      </p:sp>
      <p:sp>
        <p:nvSpPr>
          <p:cNvPr id="11" name="Shape 7"/>
          <p:cNvSpPr/>
          <p:nvPr/>
        </p:nvSpPr>
        <p:spPr>
          <a:xfrm>
            <a:off x="25648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0586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824" y="2602748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10612" y="312724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&amp; Eye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</a:t>
            </a:r>
            <a:endParaRPr lang="en-US" sz="1600"/>
          </a:p>
        </p:txBody>
      </p:sp>
      <p:sp>
        <p:nvSpPr>
          <p:cNvPr id="15" name="Text 10"/>
          <p:cNvSpPr/>
          <p:nvPr/>
        </p:nvSpPr>
        <p:spPr>
          <a:xfrm>
            <a:off x="4137660" y="273862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/>
          </a:p>
        </p:txBody>
      </p:sp>
      <p:sp>
        <p:nvSpPr>
          <p:cNvPr id="16" name="Shape 11"/>
          <p:cNvSpPr/>
          <p:nvPr/>
        </p:nvSpPr>
        <p:spPr>
          <a:xfrm>
            <a:off x="43936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48874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pptx_work/icons/activity_1C72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624" y="2602748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39412" y="3127248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Extraction (EAR)</a:t>
            </a:r>
            <a:endParaRPr lang="en-US" sz="1600"/>
          </a:p>
        </p:txBody>
      </p:sp>
      <p:sp>
        <p:nvSpPr>
          <p:cNvPr id="20" name="Text 14"/>
          <p:cNvSpPr/>
          <p:nvPr/>
        </p:nvSpPr>
        <p:spPr>
          <a:xfrm>
            <a:off x="5966460" y="273862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/>
          </a:p>
        </p:txBody>
      </p:sp>
      <p:sp>
        <p:nvSpPr>
          <p:cNvPr id="21" name="Shape 15"/>
          <p:cNvSpPr/>
          <p:nvPr/>
        </p:nvSpPr>
        <p:spPr>
          <a:xfrm>
            <a:off x="62224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7162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pptx_work/icons/cpu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424" y="2602748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68212" y="31272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Gesture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</a:t>
            </a:r>
            <a:endParaRPr lang="en-US" sz="1600"/>
          </a:p>
        </p:txBody>
      </p:sp>
      <p:sp>
        <p:nvSpPr>
          <p:cNvPr id="25" name="Text 18"/>
          <p:cNvSpPr/>
          <p:nvPr/>
        </p:nvSpPr>
        <p:spPr>
          <a:xfrm>
            <a:off x="7795260" y="273862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/>
          </a:p>
        </p:txBody>
      </p:sp>
      <p:sp>
        <p:nvSpPr>
          <p:cNvPr id="26" name="Shape 19"/>
          <p:cNvSpPr/>
          <p:nvPr/>
        </p:nvSpPr>
        <p:spPr>
          <a:xfrm>
            <a:off x="80512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85450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/home/claude/pptx_work/icons/message_1C72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224" y="2602748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97012" y="312724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Mapping</a:t>
            </a:r>
            <a:endParaRPr lang="en-US" sz="1600"/>
          </a:p>
        </p:txBody>
      </p:sp>
      <p:sp>
        <p:nvSpPr>
          <p:cNvPr id="30" name="Text 22"/>
          <p:cNvSpPr/>
          <p:nvPr/>
        </p:nvSpPr>
        <p:spPr>
          <a:xfrm>
            <a:off x="9624060" y="273862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/>
          </a:p>
        </p:txBody>
      </p:sp>
      <p:sp>
        <p:nvSpPr>
          <p:cNvPr id="31" name="Shape 23"/>
          <p:cNvSpPr/>
          <p:nvPr/>
        </p:nvSpPr>
        <p:spPr>
          <a:xfrm>
            <a:off x="9880092" y="2286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FE0E9"/>
            </a:solidFill>
            <a:prstDash val="solid"/>
          </a:ln>
          <a:effectLst>
            <a:outerShdw blurRad="76200" dist="25400" dir="5400000" algn="bl" rotWithShape="0">
              <a:srgbClr val="9AA9B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10373868" y="2450592"/>
            <a:ext cx="585216" cy="585216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/home/claude/pptx_work/icons/mic_1C72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6024" y="2602748"/>
            <a:ext cx="280904" cy="2809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834372" y="3127248"/>
            <a:ext cx="17145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/ Text</a:t>
            </a:r>
            <a:endParaRPr lang="en-US" sz="16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Alert Output</a:t>
            </a:r>
            <a:endParaRPr lang="en-US" sz="1600"/>
          </a:p>
        </p:txBody>
      </p:sp>
      <p:sp>
        <p:nvSpPr>
          <p:cNvPr id="35" name="Text 26"/>
          <p:cNvSpPr/>
          <p:nvPr/>
        </p:nvSpPr>
        <p:spPr>
          <a:xfrm>
            <a:off x="822960" y="4160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/>
          </a:p>
        </p:txBody>
      </p:sp>
      <p:sp>
        <p:nvSpPr>
          <p:cNvPr id="36" name="Shape 27"/>
          <p:cNvSpPr/>
          <p:nvPr/>
        </p:nvSpPr>
        <p:spPr>
          <a:xfrm>
            <a:off x="539496" y="5029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740664" y="513892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Layer</a:t>
            </a:r>
            <a:endParaRPr lang="en-US" sz="1300"/>
          </a:p>
        </p:txBody>
      </p:sp>
      <p:sp>
        <p:nvSpPr>
          <p:cNvPr id="38" name="Text 29"/>
          <p:cNvSpPr/>
          <p:nvPr/>
        </p:nvSpPr>
        <p:spPr>
          <a:xfrm>
            <a:off x="740664" y="54864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Webcam captures continuous live video of the user's face.</a:t>
            </a:r>
            <a:endParaRPr lang="en-US" sz="1150"/>
          </a:p>
        </p:txBody>
      </p:sp>
      <p:sp>
        <p:nvSpPr>
          <p:cNvPr id="39" name="Shape 30"/>
          <p:cNvSpPr/>
          <p:nvPr/>
        </p:nvSpPr>
        <p:spPr>
          <a:xfrm>
            <a:off x="4334256" y="5029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4535424" y="513892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 Layer</a:t>
            </a:r>
            <a:endParaRPr lang="en-US" sz="1300"/>
          </a:p>
        </p:txBody>
      </p:sp>
      <p:sp>
        <p:nvSpPr>
          <p:cNvPr id="41" name="Text 32"/>
          <p:cNvSpPr/>
          <p:nvPr/>
        </p:nvSpPr>
        <p:spPr>
          <a:xfrm>
            <a:off x="4535424" y="54864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models detect facial landmarks and classify eye gestures.</a:t>
            </a:r>
            <a:endParaRPr lang="en-US" sz="1150"/>
          </a:p>
        </p:txBody>
      </p:sp>
      <p:sp>
        <p:nvSpPr>
          <p:cNvPr id="42" name="Shape 33"/>
          <p:cNvSpPr/>
          <p:nvPr/>
        </p:nvSpPr>
        <p:spPr>
          <a:xfrm>
            <a:off x="8129016" y="5029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8330184" y="513892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Layer</a:t>
            </a:r>
            <a:endParaRPr lang="en-US" sz="1300"/>
          </a:p>
        </p:txBody>
      </p:sp>
      <p:sp>
        <p:nvSpPr>
          <p:cNvPr id="44" name="Text 35"/>
          <p:cNvSpPr/>
          <p:nvPr/>
        </p:nvSpPr>
        <p:spPr>
          <a:xfrm>
            <a:off x="8330184" y="54864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Text-to-speech, on-screen display, and caregiver alert notifications.</a:t>
            </a:r>
            <a:endParaRPr lang="en-US" sz="1150"/>
          </a:p>
        </p:txBody>
      </p:sp>
      <p:sp>
        <p:nvSpPr>
          <p:cNvPr id="45" name="Text 3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C0D40E3-D4F6-3825-8D01-7A1C2131B5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60B7958-7532-CD46-A658-9209648E93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F4A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/>
              <a:t>	</a:t>
            </a:r>
            <a:r>
              <a:rPr 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CONCEPTS</a:t>
            </a:r>
          </a:p>
        </p:txBody>
      </p:sp>
      <p:sp>
        <p:nvSpPr>
          <p:cNvPr id="7" name="Shape 4"/>
          <p:cNvSpPr/>
          <p:nvPr/>
        </p:nvSpPr>
        <p:spPr>
          <a:xfrm>
            <a:off x="8869680" y="136246"/>
            <a:ext cx="2103120" cy="210312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work/icons/check_F4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491" y="683057"/>
            <a:ext cx="1009498" cy="10094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9E254C-C4F0-D179-FB7C-8F0EF7F4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19749"/>
              </p:ext>
            </p:extLst>
          </p:nvPr>
        </p:nvGraphicFramePr>
        <p:xfrm>
          <a:off x="975360" y="1978720"/>
          <a:ext cx="10573512" cy="419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6756">
                  <a:extLst>
                    <a:ext uri="{9D8B030D-6E8A-4147-A177-3AD203B41FA5}">
                      <a16:colId xmlns:a16="http://schemas.microsoft.com/office/drawing/2014/main" val="996557339"/>
                    </a:ext>
                  </a:extLst>
                </a:gridCol>
                <a:gridCol w="5286756">
                  <a:extLst>
                    <a:ext uri="{9D8B030D-6E8A-4147-A177-3AD203B41FA5}">
                      <a16:colId xmlns:a16="http://schemas.microsoft.com/office/drawing/2014/main" val="1205416806"/>
                    </a:ext>
                  </a:extLst>
                </a:gridCol>
              </a:tblGrid>
              <a:tr h="838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851784"/>
                  </a:ext>
                </a:extLst>
              </a:tr>
              <a:tr h="838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face and eyes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353920"/>
                  </a:ext>
                </a:extLst>
              </a:tr>
              <a:tr h="838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 Gaze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where the user is looking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695005"/>
                  </a:ext>
                </a:extLst>
              </a:tr>
              <a:tr h="838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blink as a selection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37121"/>
                  </a:ext>
                </a:extLst>
              </a:tr>
              <a:tr h="838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gestures into text and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8964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1598" y="297180"/>
            <a:ext cx="5767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Eye &amp; Facial Landmark Detection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1" y="1783080"/>
            <a:ext cx="737899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continuous live video frames from a standard webcam.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the user's face in each frame using an AI-based face-detection model.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Localize facial landmarks (eyes, eyelids, eyebrows) using a landmark-prediction model such as Mediapipe FaceMesh or Dlib.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Isolate the eye region and compute the Eye Aspect Ratio (EAR) to measure eyelid opening.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gaze direction by analysing pupil / iris position relative to the eye corners.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noise and stabilize readings across frames for reliable downstream gesture recognition.</a:t>
            </a:r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758952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Technique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BB45DD-82CB-1489-9B12-C98C60272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995" y="2438556"/>
            <a:ext cx="4723411" cy="28989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7AA876-E768-1F56-3BB8-E053F276D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B7CD43-9BF9-DF25-50BE-6E86A6E92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70105" y="297180"/>
            <a:ext cx="7293935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Gesture Recognition &amp; Command Mapping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287079" y="1783080"/>
            <a:ext cx="6982401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 extracted EAR values and gaze-direction sequences into a trained AI classification model (CNN / ML classifier).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between gesture types: single blink, double blink, long blink, and directional gaze shifts.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a calibration step so the system adapts to each individual user's eye behaviour.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each recognized gesture to a predefined communication command using a configurable gesture dictionary.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a scanning/selection interface (e.g., row-column highlighting) so a small gesture set can select any letter or word.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Continuously validate predictions to reduce false triggers from natural blinking.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731520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38100" dir="5400000" algn="bl" rotWithShape="0">
              <a:srgbClr val="9AA9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006840" y="2057400"/>
            <a:ext cx="914400" cy="9144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x_work/icons/cpu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229514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80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Gesture Dictionary</a:t>
            </a:r>
            <a:endParaRPr lang="en-US" sz="1450"/>
          </a:p>
        </p:txBody>
      </p:sp>
      <p:sp>
        <p:nvSpPr>
          <p:cNvPr id="11" name="Shape 7"/>
          <p:cNvSpPr/>
          <p:nvPr/>
        </p:nvSpPr>
        <p:spPr>
          <a:xfrm>
            <a:off x="7589520" y="356616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726680" y="35661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Blink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>
          <a:xfrm>
            <a:off x="9601200" y="3566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item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7589520" y="4187952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26680" y="418795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 Blink</a:t>
            </a:r>
            <a:endParaRPr lang="en-US" sz="1200"/>
          </a:p>
        </p:txBody>
      </p:sp>
      <p:sp>
        <p:nvSpPr>
          <p:cNvPr id="16" name="Text 12"/>
          <p:cNvSpPr/>
          <p:nvPr/>
        </p:nvSpPr>
        <p:spPr>
          <a:xfrm>
            <a:off x="9601200" y="41879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/ Enter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7589520" y="4809744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726680" y="480974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Blink (2s)</a:t>
            </a:r>
            <a:endParaRPr lang="en-US" sz="1200"/>
          </a:p>
        </p:txBody>
      </p:sp>
      <p:sp>
        <p:nvSpPr>
          <p:cNvPr id="19" name="Text 15"/>
          <p:cNvSpPr/>
          <p:nvPr/>
        </p:nvSpPr>
        <p:spPr>
          <a:xfrm>
            <a:off x="9601200" y="48097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alert</a:t>
            </a:r>
            <a:endParaRPr lang="en-US" sz="1200"/>
          </a:p>
        </p:txBody>
      </p:sp>
      <p:sp>
        <p:nvSpPr>
          <p:cNvPr id="20" name="Shape 16"/>
          <p:cNvSpPr/>
          <p:nvPr/>
        </p:nvSpPr>
        <p:spPr>
          <a:xfrm>
            <a:off x="7589520" y="5431536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726680" y="543153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Gaze Left / Right</a:t>
            </a:r>
            <a:endParaRPr lang="en-US" sz="1200"/>
          </a:p>
        </p:txBody>
      </p:sp>
      <p:sp>
        <p:nvSpPr>
          <p:cNvPr id="22" name="Text 18"/>
          <p:cNvSpPr/>
          <p:nvPr/>
        </p:nvSpPr>
        <p:spPr>
          <a:xfrm>
            <a:off x="9601200" y="5431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Navigate options</a:t>
            </a:r>
            <a:endParaRPr lang="en-US" sz="1200"/>
          </a:p>
        </p:txBody>
      </p:sp>
      <p:sp>
        <p:nvSpPr>
          <p:cNvPr id="23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0A359A1-D096-60EE-4571-99D1EF2AD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67494AC-6D3A-1722-28E0-150E92972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2976" y="191014"/>
            <a:ext cx="8218967" cy="586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1879624" y="5257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 Output &amp; Alert Interface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a simple, high-contrast on-screen virtual keyboard / word board for gesture-based selection.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selected letters, words, or commands into natural speech using a text-to-speech (TTS) engine.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 live selected text on screen for caregivers and companions to read along.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an instant caregiver alert (sound / notification) for urgent needs such as pain or discomfort.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frequently used words and phrases to speed up future selections through predictive suggestions.</a:t>
            </a:r>
            <a:endParaRPr lang="en-US" sz="20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an accessible, distraction-free interface designed for low mobility and limited attention span.</a:t>
            </a:r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731520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635240" y="2148840"/>
            <a:ext cx="685800" cy="685800"/>
          </a:xfrm>
          <a:prstGeom prst="ellipse">
            <a:avLst/>
          </a:prstGeom>
          <a:solidFill>
            <a:srgbClr val="0F5A7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x_work/icons/message_F4A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548" y="23271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0" y="2313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On-Screen Text</a:t>
            </a:r>
            <a:endParaRPr lang="en-US" sz="1450"/>
          </a:p>
        </p:txBody>
      </p:sp>
      <p:sp>
        <p:nvSpPr>
          <p:cNvPr id="11" name="Shape 7"/>
          <p:cNvSpPr/>
          <p:nvPr/>
        </p:nvSpPr>
        <p:spPr>
          <a:xfrm>
            <a:off x="7635240" y="3383280"/>
            <a:ext cx="685800" cy="685800"/>
          </a:xfrm>
          <a:prstGeom prst="ellipse">
            <a:avLst/>
          </a:prstGeom>
          <a:solidFill>
            <a:srgbClr val="0F5A7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x_work/icons/mic_F4A2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48" y="35615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3920" y="3547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Output</a:t>
            </a:r>
            <a:endParaRPr lang="en-US" sz="1450"/>
          </a:p>
        </p:txBody>
      </p:sp>
      <p:sp>
        <p:nvSpPr>
          <p:cNvPr id="14" name="Shape 9"/>
          <p:cNvSpPr/>
          <p:nvPr/>
        </p:nvSpPr>
        <p:spPr>
          <a:xfrm>
            <a:off x="7635240" y="4617720"/>
            <a:ext cx="685800" cy="685800"/>
          </a:xfrm>
          <a:prstGeom prst="ellipse">
            <a:avLst/>
          </a:prstGeom>
          <a:solidFill>
            <a:srgbClr val="0F5A7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pptx_work/icons/bell_F4A2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3548" y="47960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3920" y="47823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Caregiver Alert</a:t>
            </a:r>
            <a:endParaRPr lang="en-US" sz="1450"/>
          </a:p>
        </p:txBody>
      </p:sp>
      <p:sp>
        <p:nvSpPr>
          <p:cNvPr id="17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E218DC-B8F8-BEB7-A774-4C34E7588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20970E-8B51-FA6D-1DE7-D2E9A7A12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10627-A0A6-54DB-09AF-7695932C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87E4F4-8ED3-FEC6-39CE-157A1A47C666}"/>
              </a:ext>
            </a:extLst>
          </p:cNvPr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F4A261.png">
            <a:extLst>
              <a:ext uri="{FF2B5EF4-FFF2-40B4-BE49-F238E27FC236}">
                <a16:creationId xmlns:a16="http://schemas.microsoft.com/office/drawing/2014/main" id="{9112C379-9898-19F5-87CF-306616AD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CD93AD7-220F-2DBC-51FA-9D564D6F88E3}"/>
              </a:ext>
            </a:extLst>
          </p:cNvPr>
          <p:cNvSpPr/>
          <p:nvPr/>
        </p:nvSpPr>
        <p:spPr>
          <a:xfrm>
            <a:off x="548640" y="68580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DF2D9A8-578F-75B6-B029-46C8B6866FC6}"/>
              </a:ext>
            </a:extLst>
          </p:cNvPr>
          <p:cNvSpPr/>
          <p:nvPr/>
        </p:nvSpPr>
        <p:spPr>
          <a:xfrm>
            <a:off x="548640" y="1783080"/>
            <a:ext cx="1113739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E7EE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gives physically challenged individuals a practical, hands-free way to communicate using only their eyes.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E7EE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facial landmark detection and gesture classification remove the need for costly specialized hardware.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E7EE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speech and text output allow natural, immediate communication with caregivers and family.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E7EE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instant alert feature ensures urgent needs are addressed without delay.</a:t>
            </a:r>
            <a:endParaRPr lang="en-US" sz="220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200">
                <a:solidFill>
                  <a:srgbClr val="E7EE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Overall, the system demonstrates how affordable AI and computer vision can meaningfully improve quality of life and independence for physically challenged people.</a:t>
            </a:r>
            <a:endParaRPr lang="en-US"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5685B2F-917E-8203-DB72-62939061E849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5441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20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work/icons/ey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411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1144488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work/icons/wifi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22576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848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 &amp; Smart Home Integration</a:t>
            </a:r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822960" y="26974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gesture commands to smart-home devices — lights, fans, and calling bells.</a:t>
            </a:r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pptx_work/icons/smartphone_1C72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494" y="22576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848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Application</a:t>
            </a:r>
            <a:endParaRPr lang="en-US" sz="2000"/>
          </a:p>
        </p:txBody>
      </p:sp>
      <p:sp>
        <p:nvSpPr>
          <p:cNvPr id="15" name="Text 10"/>
          <p:cNvSpPr/>
          <p:nvPr/>
        </p:nvSpPr>
        <p:spPr>
          <a:xfrm>
            <a:off x="6537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system to smartphone front cameras for greater portability and reach.</a:t>
            </a:r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pptx_work/icons/cpu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4" y="449793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Deep Learning Models</a:t>
            </a:r>
            <a:endParaRPr lang="en-US" sz="2000"/>
          </a:p>
        </p:txBody>
      </p:sp>
      <p:sp>
        <p:nvSpPr>
          <p:cNvPr id="20" name="Text 14"/>
          <p:cNvSpPr/>
          <p:nvPr/>
        </p:nvSpPr>
        <p:spPr>
          <a:xfrm>
            <a:off x="82296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Enhance accuracy under varying lighting, angles, and diverse eye conditions.</a:t>
            </a:r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26364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537960" y="4343400"/>
            <a:ext cx="594360" cy="594360"/>
          </a:xfrm>
          <a:prstGeom prst="ellipse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pptx_work/icons/trending_1C72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494" y="449793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Communication</a:t>
            </a:r>
            <a:endParaRPr lang="en-US" sz="2000"/>
          </a:p>
        </p:txBody>
      </p:sp>
      <p:sp>
        <p:nvSpPr>
          <p:cNvPr id="25" name="Text 18"/>
          <p:cNvSpPr/>
          <p:nvPr/>
        </p:nvSpPr>
        <p:spPr>
          <a:xfrm>
            <a:off x="653796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>
                <a:solidFill>
                  <a:srgbClr val="1B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word prediction and personalized phrase suggestions to speed up communication.</a:t>
            </a:r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7BC63CC-654E-D227-61B7-68773CC9B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693" y="193992"/>
            <a:ext cx="1251769" cy="10368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550502-E978-B84D-0258-EC279F211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6659" y="105697"/>
            <a:ext cx="1282648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2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30952" y="1280160"/>
            <a:ext cx="1508760" cy="150876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_work/icons/message_F4A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230" y="167243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00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128016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9D6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Eye Gesture Controlled Smart Communication System for Physically Challenged People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Devi shree</cp:lastModifiedBy>
  <cp:revision>1</cp:revision>
  <dcterms:created xsi:type="dcterms:W3CDTF">2026-08-25T06:49:09Z</dcterms:created>
  <dcterms:modified xsi:type="dcterms:W3CDTF">2026-08-25T10:27:51Z</dcterms:modified>
</cp:coreProperties>
</file>